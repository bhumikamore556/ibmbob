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90" r:id="rId2"/>
    <p:sldId id="291" r:id="rId3"/>
    <p:sldId id="292" r:id="rId4"/>
    <p:sldId id="293" r:id="rId5"/>
    <p:sldId id="294" r:id="rId6"/>
    <p:sldId id="295" r:id="rId7"/>
    <p:sldId id="296" r:id="rId8"/>
    <p:sldId id="297" r:id="rId9"/>
    <p:sldId id="298" r:id="rId10"/>
    <p:sldId id="299" r:id="rId11"/>
    <p:sldId id="301" r:id="rId12"/>
    <p:sldId id="302" r:id="rId13"/>
    <p:sldId id="303" r:id="rId14"/>
    <p:sldId id="311" r:id="rId15"/>
    <p:sldId id="304" r:id="rId16"/>
    <p:sldId id="305" r:id="rId17"/>
    <p:sldId id="306" r:id="rId18"/>
    <p:sldId id="307" r:id="rId19"/>
    <p:sldId id="310" r:id="rId20"/>
    <p:sldId id="308" r:id="rId21"/>
    <p:sldId id="309"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mailto:https://github.com/bhumikamore556/IBMBOB.git"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21483364"/>
              </p:ext>
            </p:extLst>
          </p:nvPr>
        </p:nvGraphicFramePr>
        <p:xfrm>
          <a:off x="1299257" y="2600314"/>
          <a:ext cx="9394989" cy="2512459"/>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1128322">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384137">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sz="2000" dirty="0"/>
                        <a:t>Bhumika More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200" u="none" dirty="0">
                          <a:hlinkClick r:id="rId3"/>
                        </a:rPr>
                        <a:t>bhumikamore556@gmail.com</a:t>
                      </a:r>
                      <a:endParaRPr sz="1200" u="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8197303974</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99257" y="1437512"/>
            <a:ext cx="10280254" cy="461665"/>
          </a:xfrm>
          <a:prstGeom prst="rect">
            <a:avLst/>
          </a:prstGeom>
          <a:noFill/>
        </p:spPr>
        <p:txBody>
          <a:bodyPr wrap="square" rtlCol="0">
            <a:spAutoFit/>
          </a:bodyPr>
          <a:lstStyle/>
          <a:p>
            <a:r>
              <a:rPr lang="en-US" sz="2400" b="1" dirty="0"/>
              <a:t>Domain of  Project – Education</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305411" y="546615"/>
            <a:ext cx="9581177" cy="461665"/>
          </a:xfrm>
          <a:prstGeom prst="rect">
            <a:avLst/>
          </a:prstGeom>
          <a:noFill/>
        </p:spPr>
        <p:txBody>
          <a:bodyPr wrap="square" rtlCol="0">
            <a:spAutoFit/>
          </a:bodyPr>
          <a:lstStyle/>
          <a:p>
            <a:r>
              <a:rPr lang="en-US" sz="2400" b="1" dirty="0"/>
              <a:t>Project Tile – </a:t>
            </a:r>
            <a:r>
              <a:rPr lang="en-IN" sz="2400" b="1" dirty="0"/>
              <a:t>AI-Powered Telecom Training Assistant</a:t>
            </a:r>
            <a:endParaRPr lang="en-IN" sz="2400" b="1" dirty="0">
              <a:highlight>
                <a:srgbClr val="FFFF00"/>
              </a:highlight>
            </a:endParaRPr>
          </a:p>
        </p:txBody>
      </p:sp>
      <p:pic>
        <p:nvPicPr>
          <p:cNvPr id="5" name="Picture 4">
            <a:extLst>
              <a:ext uri="{FF2B5EF4-FFF2-40B4-BE49-F238E27FC236}">
                <a16:creationId xmlns:a16="http://schemas.microsoft.com/office/drawing/2014/main" id="{1B379051-4C3B-932F-1B6C-0C0F9FBEA899}"/>
              </a:ext>
            </a:extLst>
          </p:cNvPr>
          <p:cNvPicPr>
            <a:picLocks noChangeAspect="1"/>
          </p:cNvPicPr>
          <p:nvPr/>
        </p:nvPicPr>
        <p:blipFill>
          <a:blip r:embed="rId4"/>
          <a:srcRect t="18423"/>
          <a:stretch>
            <a:fillRect/>
          </a:stretch>
        </p:blipFill>
        <p:spPr>
          <a:xfrm>
            <a:off x="3999095" y="3739094"/>
            <a:ext cx="1280827" cy="137367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832366"/>
          </a:xfrm>
          <a:prstGeom prst="rect">
            <a:avLst/>
          </a:prstGeom>
          <a:noFill/>
        </p:spPr>
        <p:txBody>
          <a:bodyPr wrap="square" rtlCol="0">
            <a:spAutoFit/>
          </a:bodyPr>
          <a:lstStyle/>
          <a:p>
            <a:pPr fontAlgn="base"/>
            <a:r>
              <a:rPr lang="en-US" sz="1600" b="1" dirty="0"/>
              <a:t>Problem Statement :</a:t>
            </a:r>
          </a:p>
          <a:p>
            <a:pPr algn="just" fontAlgn="base">
              <a:lnSpc>
                <a:spcPct val="150000"/>
              </a:lnSpc>
            </a:pPr>
            <a:r>
              <a:rPr lang="en-IN" dirty="0"/>
              <a:t>Students often struggle to understand complex telecommunication concepts through traditional learning resources. Existing materials such as textbooks and recorded lectures provide limited personalization and do not offer instant doubt resolution. An intelligent system is therefore required to provide interactive, document-based and personalized telecom learning.</a:t>
            </a:r>
            <a:endParaRPr lang="en-US" b="1" dirty="0"/>
          </a:p>
          <a:p>
            <a:pPr fontAlgn="base"/>
            <a:endParaRPr lang="en-US" b="1" dirty="0"/>
          </a:p>
          <a:p>
            <a:pPr fontAlgn="base"/>
            <a:r>
              <a:rPr lang="en-US" b="1" dirty="0"/>
              <a:t>The Challenge</a:t>
            </a:r>
            <a:r>
              <a:rPr lang="en-US" dirty="0"/>
              <a:t> </a:t>
            </a:r>
          </a:p>
          <a:p>
            <a:pPr algn="just" fontAlgn="base">
              <a:lnSpc>
                <a:spcPct val="150000"/>
              </a:lnSpc>
            </a:pPr>
            <a:r>
              <a:rPr lang="en-IN" dirty="0"/>
              <a:t>Students often struggle to understand complex telecommunication concepts through traditional learning resources. Existing materials such as textbooks and recorded lectures provide limited personalization and do not offer instant doubt resolution. An intelligent system is therefore required to provide interactive, document-based and personalized telecom learning.</a:t>
            </a:r>
          </a:p>
          <a:p>
            <a:pPr algn="just" fontAlgn="base">
              <a:lnSpc>
                <a:spcPct val="150000"/>
              </a:lnSpc>
            </a:pPr>
            <a:endParaRPr lang="en-US" dirty="0"/>
          </a:p>
          <a:p>
            <a:pPr fontAlgn="base"/>
            <a:r>
              <a:rPr lang="en-US" b="1" dirty="0"/>
              <a:t>The Objective</a:t>
            </a:r>
            <a:r>
              <a:rPr lang="en-US" dirty="0"/>
              <a:t> </a:t>
            </a:r>
          </a:p>
          <a:p>
            <a:pPr marL="285750" lvl="0" indent="-285750">
              <a:lnSpc>
                <a:spcPct val="150000"/>
              </a:lnSpc>
              <a:buFont typeface="Arial" panose="020B0604020202020204" pitchFamily="34" charset="0"/>
              <a:buChar char="•"/>
            </a:pPr>
            <a:r>
              <a:rPr lang="en-IN" dirty="0"/>
              <a:t>Retrieve telecom knowledge using </a:t>
            </a:r>
            <a:r>
              <a:rPr lang="en-IN" b="1" dirty="0"/>
              <a:t>RAG</a:t>
            </a:r>
            <a:r>
              <a:rPr lang="en-IN" dirty="0"/>
              <a:t> </a:t>
            </a:r>
          </a:p>
          <a:p>
            <a:pPr marL="285750" lvl="0" indent="-285750">
              <a:lnSpc>
                <a:spcPct val="150000"/>
              </a:lnSpc>
              <a:buFont typeface="Arial" panose="020B0604020202020204" pitchFamily="34" charset="0"/>
              <a:buChar char="•"/>
            </a:pPr>
            <a:r>
              <a:rPr lang="en-IN" dirty="0"/>
              <a:t>Provide instant answers using </a:t>
            </a:r>
            <a:r>
              <a:rPr lang="en-IN" b="1" dirty="0"/>
              <a:t>IBM Granite</a:t>
            </a:r>
            <a:r>
              <a:rPr lang="en-IN" dirty="0"/>
              <a:t> </a:t>
            </a:r>
          </a:p>
          <a:p>
            <a:pPr marL="285750" lvl="0" indent="-285750">
              <a:lnSpc>
                <a:spcPct val="150000"/>
              </a:lnSpc>
              <a:buFont typeface="Arial" panose="020B0604020202020204" pitchFamily="34" charset="0"/>
              <a:buChar char="•"/>
            </a:pPr>
            <a:r>
              <a:rPr lang="en-IN" dirty="0"/>
              <a:t>Simplify complex telecom concepts </a:t>
            </a:r>
          </a:p>
          <a:p>
            <a:pPr marL="285750" lvl="0" indent="-285750">
              <a:lnSpc>
                <a:spcPct val="150000"/>
              </a:lnSpc>
              <a:buFont typeface="Arial" panose="020B0604020202020204" pitchFamily="34" charset="0"/>
              <a:buChar char="•"/>
            </a:pPr>
            <a:r>
              <a:rPr lang="en-IN" dirty="0"/>
              <a:t>Generate AI-based quizzes </a:t>
            </a:r>
          </a:p>
          <a:p>
            <a:pPr marL="285750" lvl="0" indent="-285750">
              <a:lnSpc>
                <a:spcPct val="150000"/>
              </a:lnSpc>
              <a:buFont typeface="Arial" panose="020B0604020202020204" pitchFamily="34" charset="0"/>
              <a:buChar char="•"/>
            </a:pPr>
            <a:r>
              <a:rPr lang="en-IN" dirty="0"/>
              <a:t>Provide interactive chatbot-based learning </a:t>
            </a:r>
          </a:p>
          <a:p>
            <a:pPr marL="285750" lvl="0" indent="-285750">
              <a:lnSpc>
                <a:spcPct val="150000"/>
              </a:lnSpc>
              <a:buFont typeface="Arial" panose="020B0604020202020204" pitchFamily="34" charset="0"/>
              <a:buChar char="•"/>
            </a:pPr>
            <a:r>
              <a:rPr lang="en-IN" dirty="0"/>
              <a:t>Display relevant learning sources</a:t>
            </a:r>
          </a:p>
          <a:p>
            <a:pPr fontAlgn="base"/>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694256"/>
            <a:ext cx="7214616" cy="523220"/>
          </a:xfrm>
          <a:prstGeom prst="rect">
            <a:avLst/>
          </a:prstGeom>
          <a:noFill/>
        </p:spPr>
        <p:txBody>
          <a:bodyPr wrap="square" rtlCol="0">
            <a:spAutoFit/>
          </a:bodyPr>
          <a:lstStyle/>
          <a:p>
            <a:r>
              <a:rPr lang="en-US" sz="2800" b="1" dirty="0"/>
              <a:t>Problem Statement -</a:t>
            </a:r>
            <a:endParaRPr lang="en-IN" sz="2800" b="1" dirty="0"/>
          </a:p>
        </p:txBody>
      </p:sp>
      <p:pic>
        <p:nvPicPr>
          <p:cNvPr id="4" name="Picture 3" descr="Generative artificial intelligence and e-learning">
            <a:extLst>
              <a:ext uri="{FF2B5EF4-FFF2-40B4-BE49-F238E27FC236}">
                <a16:creationId xmlns:a16="http://schemas.microsoft.com/office/drawing/2014/main" id="{37F209E1-7EC1-33EB-8586-A67A218B2E2C}"/>
              </a:ext>
            </a:extLst>
          </p:cNvPr>
          <p:cNvPicPr>
            <a:picLocks noChangeAspect="1"/>
          </p:cNvPicPr>
          <p:nvPr/>
        </p:nvPicPr>
        <p:blipFill>
          <a:blip r:embed="rId3"/>
          <a:stretch>
            <a:fillRect/>
          </a:stretch>
        </p:blipFill>
        <p:spPr>
          <a:xfrm>
            <a:off x="7354529" y="4150623"/>
            <a:ext cx="4837471" cy="2418736"/>
          </a:xfrm>
          <a:prstGeom prst="rect">
            <a:avLst/>
          </a:prstGeom>
        </p:spPr>
      </p:pic>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39241"/>
            <a:ext cx="10607040" cy="2262671"/>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IN" sz="1600" dirty="0"/>
              <a:t>Develop an </a:t>
            </a:r>
            <a:r>
              <a:rPr lang="en-IN" sz="1600" b="1" dirty="0"/>
              <a:t>AI-Powered Telecom Training Assistant</a:t>
            </a:r>
            <a:r>
              <a:rPr lang="en-IN" sz="1600" dirty="0"/>
              <a:t> using </a:t>
            </a:r>
            <a:r>
              <a:rPr lang="en-IN" sz="1600" b="1" dirty="0"/>
              <a:t>RAG and IBM Granite models</a:t>
            </a:r>
            <a:r>
              <a:rPr lang="en-IN" sz="1600" dirty="0"/>
              <a:t>. </a:t>
            </a:r>
          </a:p>
          <a:p>
            <a:pPr marL="285750" lvl="0" indent="-285750" algn="just">
              <a:lnSpc>
                <a:spcPct val="150000"/>
              </a:lnSpc>
              <a:buFont typeface="Arial" panose="020B0604020202020204" pitchFamily="34" charset="0"/>
              <a:buChar char="•"/>
            </a:pPr>
            <a:r>
              <a:rPr lang="en-IN" sz="1600" dirty="0"/>
              <a:t>Retrieve relevant information from uploaded </a:t>
            </a:r>
            <a:r>
              <a:rPr lang="en-IN" sz="1600" b="1" dirty="0"/>
              <a:t>telecom learning materials</a:t>
            </a:r>
            <a:r>
              <a:rPr lang="en-IN" sz="1600" dirty="0"/>
              <a:t>. </a:t>
            </a:r>
          </a:p>
          <a:p>
            <a:pPr marL="285750" lvl="0" indent="-285750" algn="just">
              <a:lnSpc>
                <a:spcPct val="150000"/>
              </a:lnSpc>
              <a:buFont typeface="Arial" panose="020B0604020202020204" pitchFamily="34" charset="0"/>
              <a:buChar char="•"/>
            </a:pPr>
            <a:r>
              <a:rPr lang="en-IN" sz="1600" dirty="0"/>
              <a:t>Provide </a:t>
            </a:r>
            <a:r>
              <a:rPr lang="en-IN" sz="1600" b="1" dirty="0"/>
              <a:t>simple and understandable explanations</a:t>
            </a:r>
            <a:r>
              <a:rPr lang="en-IN" sz="1600" dirty="0"/>
              <a:t> of complex telecom concepts. </a:t>
            </a:r>
          </a:p>
          <a:p>
            <a:pPr marL="285750" lvl="0" indent="-285750" algn="just">
              <a:lnSpc>
                <a:spcPct val="150000"/>
              </a:lnSpc>
              <a:buFont typeface="Arial" panose="020B0604020202020204" pitchFamily="34" charset="0"/>
              <a:buChar char="•"/>
            </a:pPr>
            <a:r>
              <a:rPr lang="en-IN" sz="1600" dirty="0"/>
              <a:t>Enable students to ask questions through an </a:t>
            </a:r>
            <a:r>
              <a:rPr lang="en-IN" sz="1600" b="1" dirty="0"/>
              <a:t>interactive chatbot</a:t>
            </a:r>
            <a:r>
              <a:rPr lang="en-IN" sz="1600" dirty="0"/>
              <a:t> and receive instant answers. </a:t>
            </a:r>
          </a:p>
          <a:p>
            <a:pPr marL="285750" lvl="0" indent="-285750" algn="just">
              <a:lnSpc>
                <a:spcPct val="150000"/>
              </a:lnSpc>
              <a:buFont typeface="Arial" panose="020B0604020202020204" pitchFamily="34" charset="0"/>
              <a:buChar char="•"/>
            </a:pPr>
            <a:r>
              <a:rPr lang="en-IN" sz="1600" dirty="0"/>
              <a:t>Generate </a:t>
            </a:r>
            <a:r>
              <a:rPr lang="en-IN" sz="1600" b="1" dirty="0"/>
              <a:t>topic-based quizzes</a:t>
            </a:r>
            <a:r>
              <a:rPr lang="en-IN" sz="1600" dirty="0"/>
              <a:t> to help students practice and assess their understanding. </a:t>
            </a:r>
          </a:p>
          <a:p>
            <a:pPr marL="285750" lvl="0" indent="-285750" algn="just">
              <a:lnSpc>
                <a:spcPct val="150000"/>
              </a:lnSpc>
              <a:buFont typeface="Arial" panose="020B0604020202020204" pitchFamily="34" charset="0"/>
              <a:buChar char="•"/>
            </a:pPr>
            <a:r>
              <a:rPr lang="en-IN" sz="1600" dirty="0"/>
              <a:t>Use </a:t>
            </a:r>
            <a:r>
              <a:rPr lang="en-IN" sz="1600" b="1" dirty="0" err="1"/>
              <a:t>Streamlit</a:t>
            </a:r>
            <a:r>
              <a:rPr lang="en-IN" sz="1600" dirty="0"/>
              <a:t> to provide an interactive and user-friendly learning interface.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pic>
        <p:nvPicPr>
          <p:cNvPr id="4" name="Picture 3" descr="AI Tutor Learning Concept – Royalty-Free Vector | VectorStock">
            <a:extLst>
              <a:ext uri="{FF2B5EF4-FFF2-40B4-BE49-F238E27FC236}">
                <a16:creationId xmlns:a16="http://schemas.microsoft.com/office/drawing/2014/main" id="{BC552BEE-AF99-B3BC-A985-9D9B6D862534}"/>
              </a:ext>
            </a:extLst>
          </p:cNvPr>
          <p:cNvPicPr>
            <a:picLocks noChangeAspect="1"/>
          </p:cNvPicPr>
          <p:nvPr/>
        </p:nvPicPr>
        <p:blipFill>
          <a:blip r:embed="rId3"/>
          <a:stretch>
            <a:fillRect/>
          </a:stretch>
        </p:blipFill>
        <p:spPr>
          <a:xfrm>
            <a:off x="7617234" y="3838082"/>
            <a:ext cx="4442030" cy="2961353"/>
          </a:xfrm>
          <a:prstGeom prst="rect">
            <a:avLst/>
          </a:prstGeom>
        </p:spPr>
      </p:pic>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698581"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770537"/>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800" b="1" dirty="0"/>
              <a:t>Python</a:t>
            </a:r>
            <a:r>
              <a:rPr lang="en-IN" sz="1800" dirty="0"/>
              <a:t> </a:t>
            </a:r>
            <a:r>
              <a:rPr lang="en-IN" sz="1600" dirty="0"/>
              <a:t>– Core programming language for developing the application. </a:t>
            </a:r>
          </a:p>
          <a:p>
            <a:pPr marL="285750" lvl="0" indent="-285750">
              <a:lnSpc>
                <a:spcPct val="150000"/>
              </a:lnSpc>
              <a:buFont typeface="Arial" panose="020B0604020202020204" pitchFamily="34" charset="0"/>
              <a:buChar char="•"/>
            </a:pPr>
            <a:r>
              <a:rPr lang="en-IN" sz="1800" b="1" dirty="0" err="1"/>
              <a:t>Streamlit</a:t>
            </a:r>
            <a:r>
              <a:rPr lang="en-IN" sz="1800" dirty="0"/>
              <a:t> </a:t>
            </a:r>
            <a:r>
              <a:rPr lang="en-IN" sz="1600" dirty="0"/>
              <a:t>– Used to build the interactive web interface and chatbot. </a:t>
            </a:r>
          </a:p>
          <a:p>
            <a:pPr marL="285750" lvl="0" indent="-285750">
              <a:lnSpc>
                <a:spcPct val="150000"/>
              </a:lnSpc>
              <a:buFont typeface="Arial" panose="020B0604020202020204" pitchFamily="34" charset="0"/>
              <a:buChar char="•"/>
            </a:pPr>
            <a:r>
              <a:rPr lang="en-IN" sz="1800" b="1" dirty="0"/>
              <a:t>IBM Granite Models</a:t>
            </a:r>
            <a:r>
              <a:rPr lang="en-IN" sz="1800" dirty="0"/>
              <a:t> </a:t>
            </a:r>
            <a:r>
              <a:rPr lang="en-IN" sz="1600" dirty="0"/>
              <a:t>– Used for AI-based question answering, explanations, and quiz generation. </a:t>
            </a:r>
          </a:p>
          <a:p>
            <a:pPr marL="285750" lvl="0" indent="-285750">
              <a:lnSpc>
                <a:spcPct val="150000"/>
              </a:lnSpc>
              <a:buFont typeface="Arial" panose="020B0604020202020204" pitchFamily="34" charset="0"/>
              <a:buChar char="•"/>
            </a:pPr>
            <a:r>
              <a:rPr lang="en-IN" sz="1800" b="1" dirty="0"/>
              <a:t>RAG (Retrieval-Augmented Generation)</a:t>
            </a:r>
            <a:r>
              <a:rPr lang="en-IN" sz="1800" dirty="0"/>
              <a:t> </a:t>
            </a:r>
            <a:r>
              <a:rPr lang="en-IN" sz="1600" dirty="0"/>
              <a:t>– Retrieves relevant information from telecom learning materials before generating answers. </a:t>
            </a:r>
          </a:p>
          <a:p>
            <a:pPr marL="285750" lvl="0" indent="-285750">
              <a:lnSpc>
                <a:spcPct val="150000"/>
              </a:lnSpc>
              <a:buFont typeface="Arial" panose="020B0604020202020204" pitchFamily="34" charset="0"/>
              <a:buChar char="•"/>
            </a:pPr>
            <a:r>
              <a:rPr lang="en-IN" sz="1800" b="1" dirty="0"/>
              <a:t>Vector Database</a:t>
            </a:r>
            <a:r>
              <a:rPr lang="en-IN" sz="1800" dirty="0"/>
              <a:t> </a:t>
            </a:r>
            <a:r>
              <a:rPr lang="en-IN" sz="1600" dirty="0"/>
              <a:t>– Stores document embeddings and enables semantic retrieval of relevant content. </a:t>
            </a:r>
          </a:p>
          <a:p>
            <a:pPr marL="285750" lvl="0" indent="-285750">
              <a:lnSpc>
                <a:spcPct val="150000"/>
              </a:lnSpc>
              <a:buFont typeface="Arial" panose="020B0604020202020204" pitchFamily="34" charset="0"/>
              <a:buChar char="•"/>
            </a:pPr>
            <a:r>
              <a:rPr lang="en-IN" sz="1800" b="1" dirty="0"/>
              <a:t>Embeddings</a:t>
            </a:r>
            <a:r>
              <a:rPr lang="en-IN" sz="1800" dirty="0"/>
              <a:t> </a:t>
            </a:r>
            <a:r>
              <a:rPr lang="en-IN" sz="1600" dirty="0"/>
              <a:t>– Converts telecom document content into vectors for similarity-based searching. </a:t>
            </a:r>
          </a:p>
          <a:p>
            <a:pPr marL="285750" lvl="0" indent="-285750">
              <a:lnSpc>
                <a:spcPct val="150000"/>
              </a:lnSpc>
              <a:buFont typeface="Arial" panose="020B0604020202020204" pitchFamily="34" charset="0"/>
              <a:buChar char="•"/>
            </a:pPr>
            <a:r>
              <a:rPr lang="en-IN" sz="1800" b="1" dirty="0"/>
              <a:t>PDF Processing</a:t>
            </a:r>
            <a:r>
              <a:rPr lang="en-IN" sz="1800" dirty="0"/>
              <a:t> </a:t>
            </a:r>
            <a:r>
              <a:rPr lang="en-IN" sz="1600" dirty="0"/>
              <a:t>– Extracts text from uploaded telecom learning materials. </a:t>
            </a:r>
          </a:p>
          <a:p>
            <a:pPr marL="285750" lvl="0" indent="-285750">
              <a:lnSpc>
                <a:spcPct val="150000"/>
              </a:lnSpc>
              <a:buFont typeface="Arial" panose="020B0604020202020204" pitchFamily="34" charset="0"/>
              <a:buChar char="•"/>
            </a:pPr>
            <a:r>
              <a:rPr lang="en-IN" sz="1800" b="1" dirty="0"/>
              <a:t>IBM Cloud Agentic Lab</a:t>
            </a:r>
            <a:r>
              <a:rPr lang="en-IN" sz="1800" dirty="0"/>
              <a:t> – </a:t>
            </a:r>
            <a:r>
              <a:rPr lang="en-IN" sz="1600" dirty="0"/>
              <a:t>Environment for working with IBM Granite models and AI capabilities.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396164" y="875229"/>
            <a:ext cx="8823960" cy="3631763"/>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.env    </a:t>
            </a:r>
            <a:r>
              <a:rPr lang="en-US" sz="1800" dirty="0" err="1"/>
              <a:t>etc</a:t>
            </a: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98C9B184-4EA5-BDEE-AD5A-FD722632A509}"/>
              </a:ext>
            </a:extLst>
          </p:cNvPr>
          <p:cNvPicPr>
            <a:picLocks noChangeAspect="1"/>
          </p:cNvPicPr>
          <p:nvPr/>
        </p:nvPicPr>
        <p:blipFill>
          <a:blip r:embed="rId3"/>
          <a:stretch>
            <a:fillRect/>
          </a:stretch>
        </p:blipFill>
        <p:spPr>
          <a:xfrm>
            <a:off x="3667248" y="1897165"/>
            <a:ext cx="7718099" cy="4422668"/>
          </a:xfrm>
          <a:prstGeom prst="rect">
            <a:avLst/>
          </a:prstGeom>
        </p:spPr>
      </p:pic>
      <p:sp>
        <p:nvSpPr>
          <p:cNvPr id="7" name="Rectangle 6">
            <a:extLst>
              <a:ext uri="{FF2B5EF4-FFF2-40B4-BE49-F238E27FC236}">
                <a16:creationId xmlns:a16="http://schemas.microsoft.com/office/drawing/2014/main" id="{A816EAF4-BD9A-7EBC-4886-3FB6D6F7C09C}"/>
              </a:ext>
            </a:extLst>
          </p:cNvPr>
          <p:cNvSpPr/>
          <p:nvPr/>
        </p:nvSpPr>
        <p:spPr>
          <a:xfrm>
            <a:off x="3886579" y="2174895"/>
            <a:ext cx="1533530" cy="3867207"/>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1" name="Arrow: Right 10">
            <a:extLst>
              <a:ext uri="{FF2B5EF4-FFF2-40B4-BE49-F238E27FC236}">
                <a16:creationId xmlns:a16="http://schemas.microsoft.com/office/drawing/2014/main" id="{FAB245D8-3777-96E0-1046-8676C5CA8AB5}"/>
              </a:ext>
            </a:extLst>
          </p:cNvPr>
          <p:cNvSpPr/>
          <p:nvPr/>
        </p:nvSpPr>
        <p:spPr>
          <a:xfrm rot="8280234">
            <a:off x="4906810" y="1651805"/>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49915543-F8BD-D363-824A-6D61A452114B}"/>
              </a:ext>
            </a:extLst>
          </p:cNvPr>
          <p:cNvPicPr>
            <a:picLocks noChangeAspect="1"/>
          </p:cNvPicPr>
          <p:nvPr/>
        </p:nvPicPr>
        <p:blipFill>
          <a:blip r:embed="rId3"/>
          <a:srcRect b="4713"/>
          <a:stretch>
            <a:fillRect/>
          </a:stretch>
        </p:blipFill>
        <p:spPr>
          <a:xfrm>
            <a:off x="1199535" y="946354"/>
            <a:ext cx="9792929" cy="5444613"/>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6DB20F-0B51-13FF-77F7-455FE16F8F20}"/>
              </a:ext>
            </a:extLst>
          </p:cNvPr>
          <p:cNvPicPr>
            <a:picLocks noChangeAspect="1"/>
          </p:cNvPicPr>
          <p:nvPr/>
        </p:nvPicPr>
        <p:blipFill>
          <a:blip r:embed="rId2"/>
          <a:srcRect b="5840"/>
          <a:stretch>
            <a:fillRect/>
          </a:stretch>
        </p:blipFill>
        <p:spPr>
          <a:xfrm>
            <a:off x="1543663" y="511277"/>
            <a:ext cx="9246693" cy="579120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dirty="0"/>
              <a:t>Blueprint</a:t>
            </a:r>
            <a:r>
              <a:rPr lang="en-US" sz="2400" dirty="0"/>
              <a:t>-</a:t>
            </a:r>
          </a:p>
        </p:txBody>
      </p:sp>
      <p:pic>
        <p:nvPicPr>
          <p:cNvPr id="5" name="Picture 4">
            <a:extLst>
              <a:ext uri="{FF2B5EF4-FFF2-40B4-BE49-F238E27FC236}">
                <a16:creationId xmlns:a16="http://schemas.microsoft.com/office/drawing/2014/main" id="{EBDA8DE5-F690-B297-85EC-18CD9DD8CE1E}"/>
              </a:ext>
            </a:extLst>
          </p:cNvPr>
          <p:cNvPicPr>
            <a:picLocks noChangeAspect="1"/>
          </p:cNvPicPr>
          <p:nvPr/>
        </p:nvPicPr>
        <p:blipFill>
          <a:blip r:embed="rId3"/>
          <a:stretch>
            <a:fillRect/>
          </a:stretch>
        </p:blipFill>
        <p:spPr>
          <a:xfrm>
            <a:off x="1532604" y="938161"/>
            <a:ext cx="8879758" cy="5919839"/>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621792" y="211571"/>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17326"/>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b="1" dirty="0"/>
              <a:t>Understands Student Queries: </a:t>
            </a:r>
            <a:r>
              <a:rPr lang="en-IN" sz="1600" dirty="0"/>
              <a:t>Identifies what the student is asking about a telecom topic. </a:t>
            </a:r>
          </a:p>
          <a:p>
            <a:pPr marL="285750" lvl="0" indent="-285750">
              <a:lnSpc>
                <a:spcPct val="150000"/>
              </a:lnSpc>
              <a:buFont typeface="Arial" panose="020B0604020202020204" pitchFamily="34" charset="0"/>
              <a:buChar char="•"/>
            </a:pPr>
            <a:r>
              <a:rPr lang="en-IN" sz="1600" b="1" dirty="0"/>
              <a:t>Retrieves Relevant Knowledge:</a:t>
            </a:r>
            <a:r>
              <a:rPr lang="en-IN" sz="1600" dirty="0"/>
              <a:t> Uses </a:t>
            </a:r>
            <a:r>
              <a:rPr lang="en-IN" sz="1600" b="1" dirty="0"/>
              <a:t>RAG</a:t>
            </a:r>
            <a:r>
              <a:rPr lang="en-IN" sz="1600" dirty="0"/>
              <a:t> to find relevant information from uploaded telecom learning materials. </a:t>
            </a:r>
          </a:p>
          <a:p>
            <a:pPr marL="285750" lvl="0" indent="-285750">
              <a:lnSpc>
                <a:spcPct val="150000"/>
              </a:lnSpc>
              <a:buFont typeface="Arial" panose="020B0604020202020204" pitchFamily="34" charset="0"/>
              <a:buChar char="•"/>
            </a:pPr>
            <a:r>
              <a:rPr lang="en-IN" sz="1600" b="1" dirty="0"/>
              <a:t>Generates Answers:</a:t>
            </a:r>
            <a:r>
              <a:rPr lang="en-IN" sz="1600" dirty="0"/>
              <a:t> Uses </a:t>
            </a:r>
            <a:r>
              <a:rPr lang="en-IN" sz="1600" b="1" dirty="0"/>
              <a:t>IBM Granite</a:t>
            </a:r>
            <a:r>
              <a:rPr lang="en-IN" sz="1600" dirty="0"/>
              <a:t> to generate clear and context-based responses. </a:t>
            </a:r>
          </a:p>
          <a:p>
            <a:pPr marL="285750" lvl="0" indent="-285750">
              <a:lnSpc>
                <a:spcPct val="150000"/>
              </a:lnSpc>
              <a:buFont typeface="Arial" panose="020B0604020202020204" pitchFamily="34" charset="0"/>
              <a:buChar char="•"/>
            </a:pPr>
            <a:r>
              <a:rPr lang="en-IN" sz="1600" b="1" dirty="0"/>
              <a:t>Simplifies Concepts:</a:t>
            </a:r>
            <a:r>
              <a:rPr lang="en-IN" sz="1600" dirty="0"/>
              <a:t> Converts complex telecom information into easy-to-understand explanations. </a:t>
            </a:r>
          </a:p>
          <a:p>
            <a:pPr marL="285750" lvl="0" indent="-285750">
              <a:lnSpc>
                <a:spcPct val="150000"/>
              </a:lnSpc>
              <a:buFont typeface="Arial" panose="020B0604020202020204" pitchFamily="34" charset="0"/>
              <a:buChar char="•"/>
            </a:pPr>
            <a:r>
              <a:rPr lang="en-IN" sz="1600" b="1" dirty="0"/>
              <a:t>Generates Quizzes:</a:t>
            </a:r>
            <a:r>
              <a:rPr lang="en-IN" sz="1600" dirty="0"/>
              <a:t> Creates topic-based questions from the available learning materials. </a:t>
            </a:r>
          </a:p>
          <a:p>
            <a:pPr marL="285750" lvl="0" indent="-285750">
              <a:lnSpc>
                <a:spcPct val="150000"/>
              </a:lnSpc>
              <a:buFont typeface="Arial" panose="020B0604020202020204" pitchFamily="34" charset="0"/>
              <a:buChar char="•"/>
            </a:pPr>
            <a:r>
              <a:rPr lang="en-IN" sz="1600" b="1" dirty="0"/>
              <a:t>Supports Interactive Learning:</a:t>
            </a:r>
            <a:r>
              <a:rPr lang="en-IN" sz="1600" dirty="0"/>
              <a:t> Allows students to continuously ask questions and learn through the chatbot. </a:t>
            </a:r>
          </a:p>
          <a:p>
            <a:pPr marL="285750" lvl="0" indent="-285750">
              <a:lnSpc>
                <a:spcPct val="150000"/>
              </a:lnSpc>
              <a:buFont typeface="Arial" panose="020B0604020202020204" pitchFamily="34" charset="0"/>
              <a:buChar char="•"/>
            </a:pPr>
            <a:r>
              <a:rPr lang="en-IN" sz="1600" b="1" dirty="0"/>
              <a:t>Provides Source-Based Responses:</a:t>
            </a:r>
            <a:r>
              <a:rPr lang="en-IN" sz="1600" dirty="0"/>
              <a:t> Connects answers with the relevant retrieved learning material.</a:t>
            </a:r>
          </a:p>
        </p:txBody>
      </p:sp>
      <p:pic>
        <p:nvPicPr>
          <p:cNvPr id="4" name="Picture 3" descr="TeacherColab - Find Expert Tutors for Online &amp; Offline Learning">
            <a:extLst>
              <a:ext uri="{FF2B5EF4-FFF2-40B4-BE49-F238E27FC236}">
                <a16:creationId xmlns:a16="http://schemas.microsoft.com/office/drawing/2014/main" id="{DC6C630D-A125-27AC-A65D-85FADD79776D}"/>
              </a:ext>
            </a:extLst>
          </p:cNvPr>
          <p:cNvPicPr>
            <a:picLocks noChangeAspect="1"/>
          </p:cNvPicPr>
          <p:nvPr/>
        </p:nvPicPr>
        <p:blipFill>
          <a:blip r:embed="rId3"/>
          <a:stretch>
            <a:fillRect/>
          </a:stretch>
        </p:blipFill>
        <p:spPr>
          <a:xfrm>
            <a:off x="7919613" y="1987266"/>
            <a:ext cx="4272387" cy="4870734"/>
          </a:xfrm>
          <a:prstGeom prst="rect">
            <a:avLst/>
          </a:prstGeom>
        </p:spPr>
      </p:pic>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800" b="1" dirty="0">
                <a:sym typeface="Times New Roman"/>
              </a:rPr>
              <a:t> Project Output Screenshot</a:t>
            </a:r>
            <a:endParaRPr sz="28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6475CDBF-0B48-6A39-6223-73F8B74E0710}"/>
              </a:ext>
            </a:extLst>
          </p:cNvPr>
          <p:cNvPicPr>
            <a:picLocks noChangeAspect="1"/>
          </p:cNvPicPr>
          <p:nvPr/>
        </p:nvPicPr>
        <p:blipFill>
          <a:blip r:embed="rId3"/>
          <a:srcRect t="8447" b="4714"/>
          <a:stretch>
            <a:fillRect/>
          </a:stretch>
        </p:blipFill>
        <p:spPr>
          <a:xfrm>
            <a:off x="648929" y="1014900"/>
            <a:ext cx="11126797" cy="543506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07F5F5A-A278-AC2E-45BD-F80DE98596F8}"/>
              </a:ext>
            </a:extLst>
          </p:cNvPr>
          <p:cNvPicPr>
            <a:picLocks noChangeAspect="1"/>
          </p:cNvPicPr>
          <p:nvPr/>
        </p:nvPicPr>
        <p:blipFill>
          <a:blip r:embed="rId3"/>
          <a:srcRect t="8889" b="5090"/>
          <a:stretch>
            <a:fillRect/>
          </a:stretch>
        </p:blipFill>
        <p:spPr>
          <a:xfrm>
            <a:off x="589935" y="924232"/>
            <a:ext cx="10688320" cy="517176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B959DD3D-C8C1-7107-0D6F-B3C153834111}"/>
              </a:ext>
            </a:extLst>
          </p:cNvPr>
          <p:cNvPicPr>
            <a:picLocks noChangeAspect="1"/>
          </p:cNvPicPr>
          <p:nvPr/>
        </p:nvPicPr>
        <p:blipFill>
          <a:blip r:embed="rId3"/>
          <a:srcRect t="8899" r="2178"/>
          <a:stretch>
            <a:fillRect/>
          </a:stretch>
        </p:blipFill>
        <p:spPr>
          <a:xfrm>
            <a:off x="712840" y="659847"/>
            <a:ext cx="10417278" cy="515389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172003-E256-5852-A338-DC7EF4EE722B}"/>
              </a:ext>
            </a:extLst>
          </p:cNvPr>
          <p:cNvPicPr>
            <a:picLocks noChangeAspect="1"/>
          </p:cNvPicPr>
          <p:nvPr/>
        </p:nvPicPr>
        <p:blipFill>
          <a:blip r:embed="rId2"/>
          <a:srcRect t="9203" r="3145"/>
          <a:stretch>
            <a:fillRect/>
          </a:stretch>
        </p:blipFill>
        <p:spPr>
          <a:xfrm>
            <a:off x="884902" y="832669"/>
            <a:ext cx="10235381" cy="5253499"/>
          </a:xfrm>
          <a:prstGeom prst="rect">
            <a:avLst/>
          </a:prstGeom>
        </p:spPr>
      </p:pic>
    </p:spTree>
    <p:extLst>
      <p:ext uri="{BB962C8B-B14F-4D97-AF65-F5344CB8AC3E}">
        <p14:creationId xmlns:p14="http://schemas.microsoft.com/office/powerpoint/2010/main" val="518863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74800"/>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0824825" cy="4438203"/>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b="1" dirty="0"/>
              <a:t>Telecom-Specific AI Assistant:</a:t>
            </a:r>
            <a:r>
              <a:rPr lang="en-IN" sz="1600" dirty="0"/>
              <a:t> Designed specifically for learning </a:t>
            </a:r>
            <a:r>
              <a:rPr lang="en-IN" sz="1600" b="1" dirty="0"/>
              <a:t>telecommunication concepts</a:t>
            </a:r>
            <a:r>
              <a:rPr lang="en-IN" sz="1600" dirty="0"/>
              <a:t>, rather than general-purpose question answering. </a:t>
            </a:r>
          </a:p>
          <a:p>
            <a:pPr marL="285750" lvl="0" indent="-285750">
              <a:lnSpc>
                <a:spcPct val="150000"/>
              </a:lnSpc>
              <a:buFont typeface="Arial" panose="020B0604020202020204" pitchFamily="34" charset="0"/>
              <a:buChar char="•"/>
            </a:pPr>
            <a:r>
              <a:rPr lang="en-IN" sz="1600" b="1" dirty="0"/>
              <a:t>RAG-Based Learning:</a:t>
            </a:r>
            <a:r>
              <a:rPr lang="en-IN" sz="1600" dirty="0"/>
              <a:t> Retrieves information from uploaded telecom learning materials to provide </a:t>
            </a:r>
            <a:r>
              <a:rPr lang="en-IN" sz="1600" b="1" dirty="0"/>
              <a:t>context-based answers</a:t>
            </a:r>
            <a:r>
              <a:rPr lang="en-IN" sz="1600" dirty="0"/>
              <a:t>. </a:t>
            </a:r>
          </a:p>
          <a:p>
            <a:pPr marL="285750" lvl="0" indent="-285750">
              <a:lnSpc>
                <a:spcPct val="150000"/>
              </a:lnSpc>
              <a:buFont typeface="Arial" panose="020B0604020202020204" pitchFamily="34" charset="0"/>
              <a:buChar char="•"/>
            </a:pPr>
            <a:r>
              <a:rPr lang="en-IN" sz="1600" b="1" dirty="0"/>
              <a:t>IBM Granite Integration:</a:t>
            </a:r>
            <a:r>
              <a:rPr lang="en-IN" sz="1600" dirty="0"/>
              <a:t> Uses </a:t>
            </a:r>
            <a:r>
              <a:rPr lang="en-IN" sz="1600" b="1" dirty="0"/>
              <a:t>IBM Granite models</a:t>
            </a:r>
            <a:r>
              <a:rPr lang="en-IN" sz="1600" dirty="0"/>
              <a:t> for explanations, question answering, and quiz generation. </a:t>
            </a:r>
          </a:p>
          <a:p>
            <a:pPr marL="285750" lvl="0" indent="-285750">
              <a:lnSpc>
                <a:spcPct val="150000"/>
              </a:lnSpc>
              <a:buFont typeface="Arial" panose="020B0604020202020204" pitchFamily="34" charset="0"/>
              <a:buChar char="•"/>
            </a:pPr>
            <a:r>
              <a:rPr lang="en-IN" sz="1600" b="1" dirty="0"/>
              <a:t>Interactive Learning:</a:t>
            </a:r>
            <a:r>
              <a:rPr lang="en-IN" sz="1600" dirty="0"/>
              <a:t> Combines an AI chatbot with </a:t>
            </a:r>
            <a:r>
              <a:rPr lang="en-IN" sz="1600" b="1" dirty="0"/>
              <a:t>simplified explanations and quizzes</a:t>
            </a:r>
            <a:r>
              <a:rPr lang="en-IN" sz="1600" dirty="0"/>
              <a:t> in one platform. </a:t>
            </a:r>
          </a:p>
          <a:p>
            <a:pPr marL="285750" lvl="0" indent="-285750">
              <a:lnSpc>
                <a:spcPct val="150000"/>
              </a:lnSpc>
              <a:buFont typeface="Arial" panose="020B0604020202020204" pitchFamily="34" charset="0"/>
              <a:buChar char="•"/>
            </a:pPr>
            <a:r>
              <a:rPr lang="en-IN" sz="1600" b="1" dirty="0"/>
              <a:t>Document-Based Knowledge:</a:t>
            </a:r>
            <a:r>
              <a:rPr lang="en-IN" sz="1600" dirty="0"/>
              <a:t> Allows students to learn directly from their </a:t>
            </a:r>
            <a:r>
              <a:rPr lang="en-IN" sz="1600" b="1" dirty="0"/>
              <a:t>own telecom PDFs and study materials</a:t>
            </a:r>
            <a:r>
              <a:rPr lang="en-IN" sz="1600" dirty="0"/>
              <a:t>. </a:t>
            </a:r>
          </a:p>
          <a:p>
            <a:pPr marL="285750" lvl="0" indent="-285750">
              <a:lnSpc>
                <a:spcPct val="150000"/>
              </a:lnSpc>
              <a:buFont typeface="Arial" panose="020B0604020202020204" pitchFamily="34" charset="0"/>
              <a:buChar char="•"/>
            </a:pPr>
            <a:r>
              <a:rPr lang="en-IN" sz="1600" b="1" dirty="0"/>
              <a:t>Agentic Learning Approach:</a:t>
            </a:r>
            <a:r>
              <a:rPr lang="en-IN" sz="1600" dirty="0"/>
              <a:t> The AI can determine the relevant information needed to respond to different types of student learning requests. </a:t>
            </a:r>
          </a:p>
          <a:p>
            <a:pPr marL="285750" lvl="0" indent="-285750">
              <a:lnSpc>
                <a:spcPct val="150000"/>
              </a:lnSpc>
              <a:buFont typeface="Arial" panose="020B0604020202020204" pitchFamily="34" charset="0"/>
              <a:buChar char="•"/>
            </a:pPr>
            <a:r>
              <a:rPr lang="en-IN" sz="1600" b="1" dirty="0"/>
              <a:t>Learning + Assessment:</a:t>
            </a:r>
            <a:r>
              <a:rPr lang="en-IN" sz="1600" dirty="0"/>
              <a:t> Integrates </a:t>
            </a:r>
            <a:r>
              <a:rPr lang="en-IN" sz="1600" b="1" dirty="0"/>
              <a:t>learning, doubt resolution, and self-assessment</a:t>
            </a:r>
            <a:r>
              <a:rPr lang="en-IN" sz="1600" dirty="0"/>
              <a:t> in a single system.</a:t>
            </a:r>
          </a:p>
          <a:p>
            <a:pPr marL="285750" indent="-285750">
              <a:lnSpc>
                <a:spcPct val="150000"/>
              </a:lnSpc>
              <a:buFont typeface="Arial" panose="020B0604020202020204" pitchFamily="34" charset="0"/>
              <a:buChar char="•"/>
            </a:pPr>
            <a:endParaRPr lang="en-IN" sz="120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4FC87D7-68A9-4CCB-7196-44C1F5A363FB}"/>
              </a:ext>
            </a:extLst>
          </p:cNvPr>
          <p:cNvSpPr txBox="1"/>
          <p:nvPr/>
        </p:nvSpPr>
        <p:spPr>
          <a:xfrm>
            <a:off x="1218724" y="1162369"/>
            <a:ext cx="4015843" cy="307777"/>
          </a:xfrm>
          <a:prstGeom prst="rect">
            <a:avLst/>
          </a:prstGeom>
          <a:noFill/>
        </p:spPr>
        <p:txBody>
          <a:bodyPr wrap="none" rtlCol="0">
            <a:spAutoFit/>
          </a:bodyPr>
          <a:lstStyle/>
          <a:p>
            <a:r>
              <a:rPr lang="en-IN" dirty="0">
                <a:hlinkClick r:id="rId3"/>
              </a:rPr>
              <a:t>https://github.com/bhumikamore556/IBMBOB.git</a:t>
            </a:r>
            <a:endParaRPr lang="en-IN" dirty="0"/>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285750" lvl="0" indent="-285750" algn="just">
              <a:lnSpc>
                <a:spcPct val="150000"/>
              </a:lnSpc>
              <a:buFont typeface="Arial" panose="020B0604020202020204" pitchFamily="34" charset="0"/>
              <a:buChar char="•"/>
            </a:pPr>
            <a:r>
              <a:rPr lang="en-IN" sz="1600" b="1" dirty="0"/>
              <a:t>Voice-Based Learning:</a:t>
            </a:r>
            <a:r>
              <a:rPr lang="en-IN" sz="1600" dirty="0"/>
              <a:t> Enable students to ask telecom questions using voice and receive spoken explanations. </a:t>
            </a:r>
          </a:p>
          <a:p>
            <a:pPr marL="285750" lvl="0" indent="-285750" algn="just">
              <a:lnSpc>
                <a:spcPct val="150000"/>
              </a:lnSpc>
              <a:buFont typeface="Arial" panose="020B0604020202020204" pitchFamily="34" charset="0"/>
              <a:buChar char="•"/>
            </a:pPr>
            <a:r>
              <a:rPr lang="en-IN" sz="1600" b="1" dirty="0"/>
              <a:t>Multilingual Support:</a:t>
            </a:r>
            <a:r>
              <a:rPr lang="en-IN" sz="1600" dirty="0"/>
              <a:t> Provide telecom explanations in regional languages for wider accessibility. </a:t>
            </a:r>
          </a:p>
          <a:p>
            <a:pPr marL="285750" lvl="0" indent="-285750" algn="just">
              <a:lnSpc>
                <a:spcPct val="150000"/>
              </a:lnSpc>
              <a:buFont typeface="Arial" panose="020B0604020202020204" pitchFamily="34" charset="0"/>
              <a:buChar char="•"/>
            </a:pPr>
            <a:r>
              <a:rPr lang="en-IN" sz="1600" b="1" dirty="0"/>
              <a:t>Personalized Learning Paths:</a:t>
            </a:r>
            <a:r>
              <a:rPr lang="en-IN" sz="1600" dirty="0"/>
              <a:t> Recommend topics and learning materials based on quiz performance. </a:t>
            </a:r>
          </a:p>
          <a:p>
            <a:pPr marL="285750" lvl="0" indent="-285750" algn="just">
              <a:lnSpc>
                <a:spcPct val="150000"/>
              </a:lnSpc>
              <a:buFont typeface="Arial" panose="020B0604020202020204" pitchFamily="34" charset="0"/>
              <a:buChar char="•"/>
            </a:pPr>
            <a:r>
              <a:rPr lang="en-IN" sz="1600" b="1" dirty="0"/>
              <a:t>Advanced 5G/6G Content:</a:t>
            </a:r>
            <a:r>
              <a:rPr lang="en-IN" sz="1600" dirty="0"/>
              <a:t> Extend the knowledge base to emerging </a:t>
            </a:r>
            <a:r>
              <a:rPr lang="en-IN" sz="1600" b="1" dirty="0"/>
              <a:t>5G and 6G technologies</a:t>
            </a:r>
            <a:r>
              <a:rPr lang="en-IN" sz="1600" dirty="0"/>
              <a:t>. </a:t>
            </a:r>
          </a:p>
          <a:p>
            <a:pPr marL="285750" lvl="0" indent="-285750" algn="just">
              <a:lnSpc>
                <a:spcPct val="150000"/>
              </a:lnSpc>
              <a:buFont typeface="Arial" panose="020B0604020202020204" pitchFamily="34" charset="0"/>
              <a:buChar char="•"/>
            </a:pPr>
            <a:r>
              <a:rPr lang="en-IN" sz="1600" b="1" dirty="0"/>
              <a:t>Real-Time Telecom Data:</a:t>
            </a:r>
            <a:r>
              <a:rPr lang="en-IN" sz="1600" dirty="0"/>
              <a:t> Integrate live network information for advanced learning and analysis. </a:t>
            </a:r>
          </a:p>
          <a:p>
            <a:pPr marL="285750" lvl="0" indent="-285750" algn="just">
              <a:lnSpc>
                <a:spcPct val="150000"/>
              </a:lnSpc>
              <a:buFont typeface="Arial" panose="020B0604020202020204" pitchFamily="34" charset="0"/>
              <a:buChar char="•"/>
            </a:pPr>
            <a:r>
              <a:rPr lang="en-IN" sz="1600" b="1" dirty="0"/>
              <a:t>Adaptive Quizzes:</a:t>
            </a:r>
            <a:r>
              <a:rPr lang="en-IN" sz="1600" dirty="0"/>
              <a:t> Automatically adjust quiz difficulty according to the student's performance. </a:t>
            </a:r>
          </a:p>
          <a:p>
            <a:pPr marL="285750" lvl="0" indent="-285750" algn="just">
              <a:lnSpc>
                <a:spcPct val="150000"/>
              </a:lnSpc>
              <a:buFont typeface="Arial" panose="020B0604020202020204" pitchFamily="34" charset="0"/>
              <a:buChar char="•"/>
            </a:pPr>
            <a:r>
              <a:rPr lang="en-IN" sz="1600" b="1" dirty="0"/>
              <a:t>Mobile Application:</a:t>
            </a:r>
            <a:r>
              <a:rPr lang="en-IN" sz="1600" dirty="0"/>
              <a:t> Extend the assistant to Android and iOS for learning on the go. </a:t>
            </a:r>
          </a:p>
          <a:p>
            <a:pPr marL="285750" lvl="0" indent="-285750" algn="just">
              <a:lnSpc>
                <a:spcPct val="150000"/>
              </a:lnSpc>
              <a:buFont typeface="Arial" panose="020B0604020202020204" pitchFamily="34" charset="0"/>
              <a:buChar char="•"/>
            </a:pPr>
            <a:r>
              <a:rPr lang="en-IN" sz="1600" b="1" dirty="0"/>
              <a:t>Learning Analytics:</a:t>
            </a:r>
            <a:r>
              <a:rPr lang="en-IN" sz="1600" dirty="0"/>
              <a:t> Track student progress, frequently asked topics, quiz scores, and learning improvement.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FAE4FD86-994F-FBB4-C7FA-180534C31A83}"/>
              </a:ext>
            </a:extLst>
          </p:cNvPr>
          <p:cNvPicPr>
            <a:picLocks noChangeAspect="1"/>
          </p:cNvPicPr>
          <p:nvPr/>
        </p:nvPicPr>
        <p:blipFill>
          <a:blip r:embed="rId2"/>
          <a:srcRect l="28710" t="15791" r="28468" b="24459"/>
          <a:stretch>
            <a:fillRect/>
          </a:stretch>
        </p:blipFill>
        <p:spPr>
          <a:xfrm>
            <a:off x="2045109" y="1695962"/>
            <a:ext cx="8101781" cy="460741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5E5A03-1ADC-5311-7770-55DF3C5670A2}"/>
              </a:ext>
            </a:extLst>
          </p:cNvPr>
          <p:cNvPicPr>
            <a:picLocks noChangeAspect="1"/>
          </p:cNvPicPr>
          <p:nvPr/>
        </p:nvPicPr>
        <p:blipFill>
          <a:blip r:embed="rId2"/>
          <a:srcRect l="22500" t="15883" r="22822" b="7760"/>
          <a:stretch>
            <a:fillRect/>
          </a:stretch>
        </p:blipFill>
        <p:spPr>
          <a:xfrm>
            <a:off x="2235744" y="417407"/>
            <a:ext cx="7720511" cy="5727754"/>
          </a:xfrm>
          <a:prstGeom prst="rect">
            <a:avLst/>
          </a:prstGeom>
        </p:spPr>
      </p:pic>
    </p:spTree>
    <p:extLst>
      <p:ext uri="{BB962C8B-B14F-4D97-AF65-F5344CB8AC3E}">
        <p14:creationId xmlns:p14="http://schemas.microsoft.com/office/powerpoint/2010/main" val="1919980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3" name="Picture 2">
            <a:extLst>
              <a:ext uri="{FF2B5EF4-FFF2-40B4-BE49-F238E27FC236}">
                <a16:creationId xmlns:a16="http://schemas.microsoft.com/office/drawing/2014/main" id="{651C3580-61F5-24B0-C994-E849E1F50099}"/>
              </a:ext>
            </a:extLst>
          </p:cNvPr>
          <p:cNvPicPr>
            <a:picLocks noChangeAspect="1"/>
          </p:cNvPicPr>
          <p:nvPr/>
        </p:nvPicPr>
        <p:blipFill>
          <a:blip r:embed="rId2"/>
          <a:srcRect l="12580" t="15594" r="17984" b="4118"/>
          <a:stretch>
            <a:fillRect/>
          </a:stretch>
        </p:blipFill>
        <p:spPr>
          <a:xfrm>
            <a:off x="2039909" y="1328400"/>
            <a:ext cx="8465574" cy="520022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822</Words>
  <Application>Microsoft Office PowerPoint</Application>
  <PresentationFormat>Widescreen</PresentationFormat>
  <Paragraphs>109</Paragraphs>
  <Slides>21</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Bhumika More</cp:lastModifiedBy>
  <cp:revision>4</cp:revision>
  <dcterms:created xsi:type="dcterms:W3CDTF">2025-07-08T05:06:56Z</dcterms:created>
  <dcterms:modified xsi:type="dcterms:W3CDTF">2026-09-23T17:02:14Z</dcterms:modified>
</cp:coreProperties>
</file>